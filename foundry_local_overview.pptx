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🏭 스마트 팩토리 에이전트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Apple Silicon + MLX로 구동되는 로컬 LLM 기반 제조업 AI 에이전트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목적: 제조 현장을 위한 AI 어시스턴트 — 생산, 품질, 안전, 유지보수 최적화</a:t>
            </a:r>
          </a:p>
          <a:p>
            <a:pPr/>
            <a:r>
              <a:t>핵심 가치: 클라우드 없이 로컬에서 동작 → 데이터 프라이버시 보장</a:t>
            </a:r>
          </a:p>
          <a:p>
            <a:pPr/>
            <a:r>
              <a:t>LLM 엔진: Qwen3.5-9B (4-bit 양자화) on Apple MLX</a:t>
            </a:r>
          </a:p>
          <a:p>
            <a:pPr/>
            <a:r>
              <a:t>인터페이스: CLI 터미널 + Flask 웹 UI (SSE 실시간 스트리밍)</a:t>
            </a:r>
          </a:p>
          <a:p>
            <a:pPr/>
            <a:r>
              <a:t>Thinking Mode: 체인-오브-쏘트(CoT) 추론 기능 내장</a:t>
            </a:r>
          </a:p>
          <a:p>
            <a:pPr/>
            <a:r>
              <a:t>다국어 지원: 한국어/영어 포함 201개 언어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아키텍처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 wrap="square"/>
                    <a:lstStyle/>
                    <a:p>
                      <a:r>
                        <a:rPr sz="1200" b="1"/>
                        <a:t>파일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역할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설명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100"/>
                        <a:t>client.py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공유 로직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OpenAI 클라이언트, 모델 선택, 스트리밍 함수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100"/>
                        <a:t>main.py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CLI 클라이언트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터미널 채팅 (ANSI 컬러, --think 플래그)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100"/>
                        <a:t>app.py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웹 서버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Flask + SSE 스트리밍 (포트 5000)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100"/>
                        <a:t>templates/index.html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웹 UI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브라우저 채팅 UI, marked.js 마크다운 렌더링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100"/>
                        <a:t>smoke_test.py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통합 테스트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MLX API 서버 대상 자동 검증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MLX — Apple Silicon 전용 ML 프레임워크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Apple이 개발한 오픈소스 머신러닝 프레임워크 (2023~)</a:t>
            </a:r>
          </a:p>
          <a:p>
            <a:pPr/>
            <a:r>
              <a:t>Apple Silicon (M1/M2/M3/M4) 에 최적화된 설계</a:t>
            </a:r>
          </a:p>
          <a:p>
            <a:pPr/>
            <a:r>
              <a:t>통합 메모리 (Unified Memory) 활용 — CPU/GPU 간 데이터 복사 불필요</a:t>
            </a:r>
          </a:p>
          <a:p>
            <a:pPr/>
            <a:r>
              <a:t>NumPy 스타일 API — 익숙하고 쉽게 사용 가능</a:t>
            </a:r>
          </a:p>
          <a:p>
            <a:pPr/>
            <a:r>
              <a:t>LLM 추론 최적화: mlx-lm 패키지로 OpenAI 호환 API 제공</a:t>
            </a:r>
          </a:p>
          <a:p>
            <a:pPr/>
            <a:r>
              <a:t>핵심 장점:</a:t>
            </a:r>
          </a:p>
          <a:p>
            <a:pPr/>
            <a:r>
              <a:t>  • 클라우드 의존성 없음 (오프라인 동작)</a:t>
            </a:r>
          </a:p>
          <a:p>
            <a:pPr/>
            <a:r>
              <a:t>  • 데이터 프라이버시 보장 (공장 데이터 외부 유출 방지)</a:t>
            </a:r>
          </a:p>
          <a:p>
            <a:pPr/>
            <a:r>
              <a:t>  • 네트워크 레이턴시 제거 (실시간 응답)</a:t>
            </a:r>
          </a:p>
          <a:p>
            <a:pPr/>
            <a:r>
              <a:t>  • 무료 (클라우드 API 비용 제로)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모델: Qwen3.5-9B-MLX-4bit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7315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15636">
                <a:tc>
                  <a:txBody>
                    <a:bodyPr wrap="square"/>
                    <a:lstStyle/>
                    <a:p>
                      <a:r>
                        <a:rPr sz="1200" b="1"/>
                        <a:t>항목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사양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000"/>
                        <a:t>개발사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Alibaba Cloud (통의천문)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000"/>
                        <a:t>파라미터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9B (90억 개)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000"/>
                        <a:t>아키텍처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Gated DeltaNet + Mixture-of-Experts (MoE)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000"/>
                        <a:t>컨텍스트 길이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262,144 토큰 (네이티브)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000"/>
                        <a:t>양자화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4-bit (Group Size: 64)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000"/>
                        <a:t>디스크 크기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~5.6 GB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000"/>
                        <a:t>메모리 사용량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~6.0–7.0 GB (추론 시)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000"/>
                        <a:t>라이선스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Apache 2.0 (상업적 사용 가능)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000"/>
                        <a:t>다국어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201개 언어 지원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 wrap="square"/>
                    <a:lstStyle/>
                    <a:p>
                      <a:r>
                        <a:rPr sz="1000"/>
                        <a:t>특징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Vision-Language 통합, Thinking Mode 내장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벤치마크 결과 — 언어 &amp; 추론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14350">
                <a:tc>
                  <a:txBody>
                    <a:bodyPr wrap="square"/>
                    <a:lstStyle/>
                    <a:p>
                      <a:r>
                        <a:rPr sz="1100" b="1"/>
                        <a:t>벤치마크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1"/>
                        <a:t>Qwen3.5-9B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1"/>
                        <a:t>GPT-OSS-120B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1"/>
                        <a:t>Qwen3.5-4B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000"/>
                        <a:t>MMLU-Pro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82.5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80.8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79.1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000"/>
                        <a:t>GPQA Diamond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81.7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80.1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76.2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000"/>
                        <a:t>MMLU-Redux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91.1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91.0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88.8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000"/>
                        <a:t>C-Eval (한중일)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88.2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76.2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85.1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000"/>
                        <a:t>IFEval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91.5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88.9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89.8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000"/>
                        <a:t>HMMT Feb 25 (수학)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83.2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90.0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74.0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000"/>
                        <a:t>LiveCodeBench v6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65.6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82.7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55.8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C83232"/>
                </a:solidFill>
              </a:rPr>
              <a:t>※ 9B 모델이 120B 모델(GPT-OSS-120B)을 다수 벤치마크에서 능가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벤치마크 결과 — 멀티모달 / 비전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33400">
                <a:tc>
                  <a:txBody>
                    <a:bodyPr wrap="square"/>
                    <a:lstStyle/>
                    <a:p>
                      <a:r>
                        <a:rPr sz="1200" b="1"/>
                        <a:t>벤치마크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Qwen3.5-9B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GPT-5-Nano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Gemini 2.5 Flash-Lite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000"/>
                        <a:t>MMMU-Pro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70.1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57.2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59.7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000"/>
                        <a:t>MMMU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78.4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75.8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73.4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000"/>
                        <a:t>MathVision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78.9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62.2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52.1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000"/>
                        <a:t>Video-MME (자막)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84.5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-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74.6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000"/>
                        <a:t>OmniDocBench v1.5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87.7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-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303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/>
              <a:t>※ Vision 벤치마크에서 GPT-5-Nano, Gemini 2.5 Flash-Lite를 크게 앞서는 성능</a:t>
            </a:r>
          </a:p>
          <a:p>
            <a:r>
              <a:rPr sz="1100" i="1"/>
              <a:t>※ 공식 벤치마크 이미지: huggingface.co/Qwen/Qwen3.5-9B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하드웨어 환경 및 요구사항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/>
                        <a:t>양자화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1"/>
                        <a:t>메모리 사용량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1"/>
                        <a:t>권장 하드웨어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/>
                        <a:t>4-bit (현재 사용)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~6.0–7.0 GB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16 GB Mac (MacBook Air, Mac Mini 등)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/>
                        <a:t>6-bit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~7.9 GB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16 GB+ Mac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/>
                        <a:t>8-bit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~10.4 GB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24 GB+ Mac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/>
                        <a:t>FP16 (전체 정밀도)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~20.3 GB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32 GB+ Mac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🖥️ 테스트 환경 (실제 사용 장비)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4663440"/>
          <a:ext cx="6400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381000">
                <a:tc>
                  <a:txBody>
                    <a:bodyPr wrap="square"/>
                    <a:lstStyle/>
                    <a:p>
                      <a:r>
                        <a:rPr sz="1100" b="1"/>
                        <a:t>항목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1"/>
                        <a:t>사양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/>
                        <a:t>기기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Mac Mini (2024)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/>
                        <a:t>칩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Apple M4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/>
                        <a:t>통합 메모리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16 GB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/>
                        <a:t>추론 속도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~25–35 tokens/sec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/>
                        <a:t>메모리 점유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~6.5 GB (모델 + KV 캐시 @ 4K 컨텍스트)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실행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1️⃣ MLX 서버 시작 (별도 터미널)</a:t>
            </a:r>
          </a:p>
          <a:p>
            <a:pPr/>
            <a:r>
              <a:t>   uvx --from mlx-lm mlx_lm.server</a:t>
            </a:r>
          </a:p>
          <a:p>
            <a:pPr/>
          </a:p>
          <a:p>
            <a:pPr/>
            <a:r>
              <a:t>2️⃣ CLI 클라이언트 실행</a:t>
            </a:r>
          </a:p>
          <a:p>
            <a:pPr/>
            <a:r>
              <a:t>   uv run main.py              # Thinking OFF (기본)</a:t>
            </a:r>
          </a:p>
          <a:p>
            <a:pPr/>
            <a:r>
              <a:t>   uv run main.py --think      # Thinking ON</a:t>
            </a:r>
          </a:p>
          <a:p>
            <a:pPr/>
          </a:p>
          <a:p>
            <a:pPr/>
            <a:r>
              <a:t>3️⃣ 웹 UI 실행</a:t>
            </a:r>
          </a:p>
          <a:p>
            <a:pPr/>
            <a:r>
              <a:t>   uv run app.py               # http://127.0.0.1:5000</a:t>
            </a:r>
          </a:p>
          <a:p>
            <a:pPr/>
          </a:p>
          <a:p>
            <a:pPr/>
            <a:r>
              <a:t>4️⃣ 스모크 테스트</a:t>
            </a:r>
          </a:p>
          <a:p>
            <a:pPr/>
            <a:r>
              <a:t>   uv run smoke_test.py        # 전체 검증</a:t>
            </a:r>
          </a:p>
          <a:p>
            <a:pPr/>
            <a:r>
              <a:t>   uv run smoke_test.py --think # Thinking 모드 포함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기능 &amp; 데모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✅ 다회전 대화 — 전체 채팅 히스토리 유지</a:t>
            </a:r>
          </a:p>
          <a:p>
            <a:pPr/>
            <a:r>
              <a:t>✅ SSE 스트리밍 — 토큰별 실시간 응답 (CLI &amp; 웹 UI)</a:t>
            </a:r>
          </a:p>
          <a:p>
            <a:pPr/>
            <a:r>
              <a:t>✅ Thinking Mode — 체인-오브-쏘트 추론 (웹 UI에서 접을 수 있는 상자)</a:t>
            </a:r>
          </a:p>
          <a:p>
            <a:pPr/>
            <a:r>
              <a:t>✅ 마크다운 렌더링 — LLM 응답을 HTML로 변환 (marked.js)</a:t>
            </a:r>
          </a:p>
          <a:p>
            <a:pPr/>
            <a:r>
              <a:t>  • 볼드, 이탤릭, 코드 블록, 테이블, 리스트 모두 지원</a:t>
            </a:r>
          </a:p>
          <a:p>
            <a:pPr/>
            <a:r>
              <a:t>  • LLM 마크다운 퀸크 자동 보정 (fixLlmMarkdown)</a:t>
            </a:r>
          </a:p>
          <a:p>
            <a:pPr/>
            <a:r>
              <a:t>✅ 다크 테마 — 공장/산업 환경에 적합한 UI</a:t>
            </a:r>
          </a:p>
          <a:p>
            <a:pPr/>
            <a:r>
              <a:t>✅ 스마트 팩토리 페르소나 — 제조업 전문 시스템 프롬프트</a:t>
            </a:r>
          </a:p>
          <a:p>
            <a:pPr/>
            <a:r>
              <a:t>✅ 모델 자동 감지 — 사용 가능한 모델 자동 선택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